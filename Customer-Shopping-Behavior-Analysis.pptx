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ela Gothic One" panose="020B0604020202020204" charset="-128"/>
      <p:regular r:id="rId13"/>
    </p:embeddedFont>
    <p:embeddedFont>
      <p:font typeface="DM Sans" panose="020F0502020204030204" pitchFamily="2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456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740B0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997" y="135235"/>
            <a:ext cx="4391510" cy="6587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2555180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31908" y="4013795"/>
            <a:ext cx="696557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purchases — 18 features — strategic insights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740B0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8" y="135235"/>
            <a:ext cx="4391510" cy="6587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03794" y="1694259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Dataset Summary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03794" y="2558951"/>
            <a:ext cx="3087709" cy="1356618"/>
          </a:xfrm>
          <a:prstGeom prst="roundRect">
            <a:avLst>
              <a:gd name="adj" fmla="val 559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90618" y="2745780"/>
            <a:ext cx="2714061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Rows &amp; Columns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390618" y="3150890"/>
            <a:ext cx="2714061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rows · 18 columns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71978" y="2558951"/>
            <a:ext cx="3087809" cy="1356618"/>
          </a:xfrm>
          <a:prstGeom prst="roundRect">
            <a:avLst>
              <a:gd name="adj" fmla="val 559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8802" y="2745780"/>
            <a:ext cx="271416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58802" y="3150890"/>
            <a:ext cx="271416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Demographics, Purchase details, Behavior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03794" y="4096048"/>
            <a:ext cx="6355993" cy="1067693"/>
          </a:xfrm>
          <a:prstGeom prst="roundRect">
            <a:avLst>
              <a:gd name="adj" fmla="val 710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0618" y="4282877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Missing Data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390618" y="4687987"/>
            <a:ext cx="598234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 values missing in Review Rating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740B0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297" y="116185"/>
            <a:ext cx="4416910" cy="66255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534293"/>
            <a:ext cx="6355993" cy="1020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EDA &amp; Preparation (Python)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31908" y="1754783"/>
            <a:ext cx="310249" cy="193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31908" y="1999258"/>
            <a:ext cx="6355993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7" name="Text 4"/>
          <p:cNvSpPr/>
          <p:nvPr/>
        </p:nvSpPr>
        <p:spPr>
          <a:xfrm>
            <a:off x="631908" y="2114848"/>
            <a:ext cx="635599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Load &amp; Inspect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1908" y="2450009"/>
            <a:ext cx="6355993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pandas, df.info(), describe()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1908" y="2930327"/>
            <a:ext cx="310249" cy="193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1908" y="3174802"/>
            <a:ext cx="6355993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1" name="Text 8"/>
          <p:cNvSpPr/>
          <p:nvPr/>
        </p:nvSpPr>
        <p:spPr>
          <a:xfrm>
            <a:off x="631908" y="3290391"/>
            <a:ext cx="635599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Missing Handling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1908" y="3625552"/>
            <a:ext cx="6355993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ratings by category median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1908" y="4105870"/>
            <a:ext cx="310249" cy="193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1908" y="4350345"/>
            <a:ext cx="6355993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5" name="Text 12"/>
          <p:cNvSpPr/>
          <p:nvPr/>
        </p:nvSpPr>
        <p:spPr>
          <a:xfrm>
            <a:off x="631908" y="4465935"/>
            <a:ext cx="635599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Standardize &amp; Engineer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1908" y="4801096"/>
            <a:ext cx="6355993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snake_case, age_group, purchase_frequency_days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1908" y="5281414"/>
            <a:ext cx="310249" cy="193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1908" y="5525889"/>
            <a:ext cx="6355993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9" name="Text 16"/>
          <p:cNvSpPr/>
          <p:nvPr/>
        </p:nvSpPr>
        <p:spPr>
          <a:xfrm>
            <a:off x="631908" y="5641479"/>
            <a:ext cx="635599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De-dup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1908" y="5976640"/>
            <a:ext cx="6355993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Dropped promo_code_used (redundant)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740073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Database Integration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807865"/>
            <a:ext cx="4106760" cy="41068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85538" y="3135114"/>
            <a:ext cx="638049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PostgreSQL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185538" y="3612455"/>
            <a:ext cx="699008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Cleaned DataFrame loaded for SQL analysis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85538" y="4063802"/>
            <a:ext cx="6380499" cy="640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queries for business metrics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Reusable tables for dashboarding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740B0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997" y="135235"/>
            <a:ext cx="4391510" cy="6587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2462808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Revenue by Gender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31908" y="3327499"/>
            <a:ext cx="3087709" cy="1067693"/>
          </a:xfrm>
          <a:prstGeom prst="roundRect">
            <a:avLst>
              <a:gd name="adj" fmla="val 710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8733" y="3514328"/>
            <a:ext cx="2714061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Male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18733" y="3919438"/>
            <a:ext cx="2714061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$157,890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900092" y="3327499"/>
            <a:ext cx="3087809" cy="1067693"/>
          </a:xfrm>
          <a:prstGeom prst="roundRect">
            <a:avLst>
              <a:gd name="adj" fmla="val 710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86917" y="3514328"/>
            <a:ext cx="271416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Female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86917" y="3919438"/>
            <a:ext cx="271416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$75,191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02433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Discounts &amp; High-Spenders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092127"/>
            <a:ext cx="3538350" cy="3538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128" y="3013869"/>
            <a:ext cx="69489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High-Spending Discount Users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17128" y="3491210"/>
            <a:ext cx="755849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839 rows identified — users who used discounts but spent above average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17128" y="3960614"/>
            <a:ext cx="69489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Top Discount-Dependent Items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17128" y="4437955"/>
            <a:ext cx="755849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 50% · Sneakers 49.66% · Coat 49.07% · Sweater 48.17% · Pants 47.37%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2471341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Top Products &amp; Categories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3426321"/>
            <a:ext cx="768232" cy="9602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5758" y="3426321"/>
            <a:ext cx="2498365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Gloves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25758" y="3831431"/>
            <a:ext cx="249836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rating 3.86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40" y="3426321"/>
            <a:ext cx="768232" cy="9602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43590" y="3426321"/>
            <a:ext cx="2498365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Sandals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43590" y="3831431"/>
            <a:ext cx="249836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rating 3.84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572" y="3426321"/>
            <a:ext cx="768232" cy="9602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1422" y="3426321"/>
            <a:ext cx="2498365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Boots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61422" y="3831431"/>
            <a:ext cx="249836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rating 3.82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740B0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997" y="135235"/>
            <a:ext cx="4391510" cy="6587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1150045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Sales &amp; Revenue by Category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08" y="2811760"/>
            <a:ext cx="2957736" cy="26929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36515" y="2771080"/>
            <a:ext cx="2957736" cy="1607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by Category: Clothing 1.75K · Accessories 1.25K · Footwear 0.65K · Outerwear 0.35K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purchase amount: $59.76 · Avg review rating: 3.75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740B0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997" y="135235"/>
            <a:ext cx="4391510" cy="6587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1150045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Age Groups &amp; Subscriptions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08" y="2811760"/>
            <a:ext cx="2957736" cy="26929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36515" y="2789138"/>
            <a:ext cx="2957736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Subscription Snapshot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4036515" y="3563342"/>
            <a:ext cx="2957736" cy="1029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Yes: 1.05K · No: 2.85K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— avg spend $59.49 · Non-subscribers — avg $59.87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036515" y="4773017"/>
            <a:ext cx="2957736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Segments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036515" y="5250359"/>
            <a:ext cx="3567321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Loyal 3,116 · Returning 701 · New 83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1908" y="4061520"/>
            <a:ext cx="10927878" cy="398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Recommendations</a:t>
            </a:r>
            <a:endParaRPr lang="en-US" sz="2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4582716"/>
            <a:ext cx="2670803" cy="8406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6649" y="4716661"/>
            <a:ext cx="2352120" cy="199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Boost Subscriptions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816649" y="4965005"/>
            <a:ext cx="2352120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4168" y="4582716"/>
            <a:ext cx="2670902" cy="8406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68908" y="4716661"/>
            <a:ext cx="2352219" cy="199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Loyalty Programs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3568908" y="4965005"/>
            <a:ext cx="2352219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grow Loyal segment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6526" y="4582716"/>
            <a:ext cx="2670902" cy="8406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21267" y="4716661"/>
            <a:ext cx="2352219" cy="199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Review Discounts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321267" y="4965005"/>
            <a:ext cx="2352219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lift vs margin impact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8885" y="4582716"/>
            <a:ext cx="2670902" cy="8406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073625" y="4716661"/>
            <a:ext cx="2352219" cy="199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Product Positioning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9073625" y="4965005"/>
            <a:ext cx="2352219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&amp; best-selling items</a:t>
            </a:r>
            <a:endParaRPr lang="en-US" sz="9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5504855"/>
            <a:ext cx="2670803" cy="8406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16649" y="5638800"/>
            <a:ext cx="2352120" cy="199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Targeted Marketing</a:t>
            </a:r>
            <a:endParaRPr lang="en-US" sz="1250" dirty="0"/>
          </a:p>
        </p:txBody>
      </p:sp>
      <p:sp>
        <p:nvSpPr>
          <p:cNvPr id="18" name="Text 10"/>
          <p:cNvSpPr/>
          <p:nvPr/>
        </p:nvSpPr>
        <p:spPr>
          <a:xfrm>
            <a:off x="816649" y="5887145"/>
            <a:ext cx="2352120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C592599-21E9-8EC2-A9B6-762F59D72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04" y="119829"/>
            <a:ext cx="6316932" cy="39416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293</Words>
  <Application>Microsoft Office PowerPoint</Application>
  <PresentationFormat>Widescreen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Dela Gothic One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Rohit Chatterjee</cp:lastModifiedBy>
  <cp:revision>2</cp:revision>
  <dcterms:created xsi:type="dcterms:W3CDTF">2026-09-09T16:17:37Z</dcterms:created>
  <dcterms:modified xsi:type="dcterms:W3CDTF">2026-09-09T16:20:17Z</dcterms:modified>
</cp:coreProperties>
</file>